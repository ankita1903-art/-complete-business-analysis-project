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70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04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5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1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2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66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25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26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33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755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3015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14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5153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301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20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03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09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B2C486-C08A-FB99-E1D9-4B115D001BE2}"/>
              </a:ext>
            </a:extLst>
          </p:cNvPr>
          <p:cNvSpPr txBox="1"/>
          <p:nvPr/>
        </p:nvSpPr>
        <p:spPr>
          <a:xfrm>
            <a:off x="639097" y="2263566"/>
            <a:ext cx="69022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6000" b="1" i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ritannic Bold" panose="020B0903060703020204" pitchFamily="34" charset="0"/>
              </a:rPr>
              <a:t>Complete Business Analysis Project</a:t>
            </a:r>
          </a:p>
        </p:txBody>
      </p:sp>
    </p:spTree>
    <p:extLst>
      <p:ext uri="{BB962C8B-B14F-4D97-AF65-F5344CB8AC3E}">
        <p14:creationId xmlns:p14="http://schemas.microsoft.com/office/powerpoint/2010/main" val="2253546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246" y="904567"/>
            <a:ext cx="6115666" cy="766916"/>
          </a:xfrm>
        </p:spPr>
        <p:txBody>
          <a:bodyPr>
            <a:normAutofit fontScale="90000"/>
          </a:bodyPr>
          <a:lstStyle/>
          <a:p>
            <a:r>
              <a:rPr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633" y="2267540"/>
            <a:ext cx="7433186" cy="2510937"/>
          </a:xfrm>
        </p:spPr>
        <p:txBody>
          <a:bodyPr>
            <a:normAutofit/>
          </a:bodyPr>
          <a:lstStyle/>
          <a:p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 data set is given. I choose customer_churn.csv file.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Title: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i="1" dirty="0">
                <a:latin typeface="Century Schoolbook" panose="020406040505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	Customer Churn Analysis &amp; Retention Strategy.</a:t>
            </a:r>
            <a:endParaRPr lang="en-IN" sz="2400" dirty="0">
              <a:latin typeface="Century Schoolbook" panose="020406040505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AE653A1-E19E-7FD0-8BE5-24CA59FC42EC}"/>
              </a:ext>
            </a:extLst>
          </p:cNvPr>
          <p:cNvSpPr txBox="1"/>
          <p:nvPr/>
        </p:nvSpPr>
        <p:spPr>
          <a:xfrm>
            <a:off x="521108" y="3074828"/>
            <a:ext cx="726604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</a:t>
            </a:r>
            <a:r>
              <a:rPr lang="en-IN" sz="2400" dirty="0"/>
              <a:t>🎯</a:t>
            </a:r>
            <a:r>
              <a:rPr lang="en-US" sz="2400" b="1" dirty="0">
                <a:latin typeface="Century Schoolbook" panose="020406040505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Business Problem:</a:t>
            </a:r>
          </a:p>
          <a:p>
            <a:pPr>
              <a:buNone/>
            </a:pPr>
            <a:endParaRPr lang="en-US" sz="2400" b="1" dirty="0">
              <a:latin typeface="Century Schoolbook" panose="020406040505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2000" dirty="0">
                <a:latin typeface="Century Schoolbook" panose="020406040505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Companies lose revenue when customers leave (churn).</a:t>
            </a:r>
          </a:p>
          <a:p>
            <a:pPr>
              <a:buNone/>
            </a:pPr>
            <a:endParaRPr lang="en-US" sz="2000" dirty="0">
              <a:latin typeface="Century Schoolbook" panose="020406040505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entury Schoolbook" panose="020406040505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We want to understand:</a:t>
            </a:r>
          </a:p>
          <a:p>
            <a:r>
              <a:rPr lang="en-US" sz="2000" i="1" dirty="0">
                <a:latin typeface="Century Schoolbook" panose="020406040505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Why are customers churning and how can the company reduce churn?</a:t>
            </a:r>
          </a:p>
          <a:p>
            <a:pPr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0E2423-531E-1466-380A-28CD1E2C6CB8}"/>
              </a:ext>
            </a:extLst>
          </p:cNvPr>
          <p:cNvSpPr txBox="1"/>
          <p:nvPr/>
        </p:nvSpPr>
        <p:spPr>
          <a:xfrm>
            <a:off x="668593" y="1198263"/>
            <a:ext cx="65187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entury Schoolbook" panose="020406040505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PHASE 1: PROJECT PLANNING (Days 1–3)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639097"/>
            <a:ext cx="6420467" cy="737419"/>
          </a:xfrm>
        </p:spPr>
        <p:txBody>
          <a:bodyPr>
            <a:normAutofit/>
          </a:bodyPr>
          <a:lstStyle/>
          <a:p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 &amp;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333" y="1318959"/>
            <a:ext cx="5894441" cy="2025445"/>
          </a:xfrm>
        </p:spPr>
        <p:txBody>
          <a:bodyPr/>
          <a:lstStyle/>
          <a:p>
            <a:r>
              <a:rPr lang="en-IN" dirty="0"/>
              <a:t>Objectives:</a:t>
            </a:r>
          </a:p>
          <a:p>
            <a:r>
              <a:rPr lang="en-IN" dirty="0"/>
              <a:t>•</a:t>
            </a:r>
            <a:endParaRPr dirty="0"/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B17A0120-C3C2-185E-1201-EB7B2CD61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715" y="1731516"/>
            <a:ext cx="420820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model to predict churn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 high-risk customers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retention strategies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key factors causing churn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00998D-6604-02C8-08D1-704DB1D20E36}"/>
              </a:ext>
            </a:extLst>
          </p:cNvPr>
          <p:cNvSpPr txBox="1"/>
          <p:nvPr/>
        </p:nvSpPr>
        <p:spPr>
          <a:xfrm>
            <a:off x="570270" y="2963679"/>
            <a:ext cx="45916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Success Metrics</a:t>
            </a:r>
          </a:p>
          <a:p>
            <a:pPr>
              <a:buNone/>
            </a:pPr>
            <a:r>
              <a:rPr lang="en-US" dirty="0"/>
              <a:t>Business + Data metrics: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A77693D-F5E4-4F4E-1262-20A754B27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725683"/>
              </p:ext>
            </p:extLst>
          </p:nvPr>
        </p:nvGraphicFramePr>
        <p:xfrm>
          <a:off x="570270" y="3715260"/>
          <a:ext cx="6348412" cy="1737360"/>
        </p:xfrm>
        <a:graphic>
          <a:graphicData uri="http://schemas.openxmlformats.org/drawingml/2006/table">
            <a:tbl>
              <a:tblPr/>
              <a:tblGrid>
                <a:gridCol w="3174206">
                  <a:extLst>
                    <a:ext uri="{9D8B030D-6E8A-4147-A177-3AD203B41FA5}">
                      <a16:colId xmlns:a16="http://schemas.microsoft.com/office/drawing/2014/main" val="3747844696"/>
                    </a:ext>
                  </a:extLst>
                </a:gridCol>
                <a:gridCol w="3174206">
                  <a:extLst>
                    <a:ext uri="{9D8B030D-6E8A-4147-A177-3AD203B41FA5}">
                      <a16:colId xmlns:a16="http://schemas.microsoft.com/office/drawing/2014/main" val="3262397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6069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Business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Reduce churn rate by X%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01178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Accuracy, Precision, Recall, 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0812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Financial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Estimated revenue saved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5859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86580"/>
            <a:ext cx="6656439" cy="1120877"/>
          </a:xfrm>
        </p:spPr>
        <p:txBody>
          <a:bodyPr>
            <a:normAutofit/>
          </a:bodyPr>
          <a:lstStyle/>
          <a:p>
            <a:r>
              <a:rPr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Phase 2: Data Collection &amp; Preparation (Days 4–6)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512046"/>
            <a:ext cx="6656439" cy="2096778"/>
          </a:xfrm>
        </p:spPr>
        <p:txBody>
          <a:bodyPr>
            <a:normAutofit/>
          </a:bodyPr>
          <a:lstStyle/>
          <a:p>
            <a:r>
              <a:rPr sz="2400" dirty="0">
                <a:latin typeface="Century Schoolbook" panose="02040604050505020304" pitchFamily="18" charset="0"/>
              </a:rPr>
              <a:t>• Data acquisition</a:t>
            </a:r>
          </a:p>
          <a:p>
            <a:r>
              <a:rPr sz="2400" dirty="0">
                <a:latin typeface="Century Schoolbook" panose="02040604050505020304" pitchFamily="18" charset="0"/>
              </a:rPr>
              <a:t>• Cleaning &amp; preprocessing</a:t>
            </a:r>
          </a:p>
          <a:p>
            <a:r>
              <a:rPr sz="2400" dirty="0">
                <a:latin typeface="Century Schoolbook" panose="02040604050505020304" pitchFamily="18" charset="0"/>
              </a:rPr>
              <a:t>• Handling missing values</a:t>
            </a:r>
          </a:p>
          <a:p>
            <a:r>
              <a:rPr sz="2400" dirty="0">
                <a:latin typeface="Century Schoolbook" panose="02040604050505020304" pitchFamily="18" charset="0"/>
              </a:rPr>
              <a:t>• Data quality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154995" cy="648929"/>
          </a:xfrm>
        </p:spPr>
        <p:txBody>
          <a:bodyPr/>
          <a:lstStyle/>
          <a:p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Schoolbook" panose="02040604050505020304" pitchFamily="18" charset="0"/>
              </a:rP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00152"/>
            <a:ext cx="5299588" cy="789087"/>
          </a:xfrm>
        </p:spPr>
        <p:txBody>
          <a:bodyPr/>
          <a:lstStyle/>
          <a:p>
            <a:r>
              <a:rPr dirty="0"/>
              <a:t>Total Customers: 500</a:t>
            </a:r>
          </a:p>
          <a:p>
            <a:r>
              <a:rPr dirty="0"/>
              <a:t>Churn Rate: 10.60%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A58034-5911-44AB-AC45-0F601BA79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0" y="2509411"/>
            <a:ext cx="6725267" cy="37389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626" y="443569"/>
            <a:ext cx="6794090" cy="786581"/>
          </a:xfrm>
        </p:spPr>
        <p:txBody>
          <a:bodyPr>
            <a:noAutofit/>
          </a:bodyPr>
          <a:lstStyle/>
          <a:p>
            <a:r>
              <a:rPr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Phase 3: Exploratory Data Analysis (Days 7–9)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276" y="1634957"/>
            <a:ext cx="7157885" cy="4873998"/>
          </a:xfrm>
        </p:spPr>
        <p:txBody>
          <a:bodyPr/>
          <a:lstStyle/>
          <a:p>
            <a:r>
              <a:rPr dirty="0"/>
              <a:t>• Distribution analysis</a:t>
            </a:r>
            <a:endParaRPr lang="en-US" dirty="0"/>
          </a:p>
          <a:p>
            <a:r>
              <a:rPr dirty="0"/>
              <a:t>• Correlation checks</a:t>
            </a:r>
          </a:p>
          <a:p>
            <a:r>
              <a:rPr dirty="0"/>
              <a:t>• Visualization of churn patterns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D0760E1-4368-D29F-DBD5-F5E8A925E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17" y="2878789"/>
            <a:ext cx="2852596" cy="15003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F1F8105-8E15-5CEA-963F-E6C7F2647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711" y="2913488"/>
            <a:ext cx="2345302" cy="150036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47AAC5B-95E0-05F4-DDEF-6C8166159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677" y="2913489"/>
            <a:ext cx="2253012" cy="150036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3888EE3-5CD7-E341-B1E9-595199B0B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198" y="4472861"/>
            <a:ext cx="2385233" cy="150036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D627AB0-2953-3FD1-C168-C12F98CDE9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6509" y="4517100"/>
            <a:ext cx="3022320" cy="18058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4699820" cy="599768"/>
          </a:xfrm>
        </p:spPr>
        <p:txBody>
          <a:bodyPr>
            <a:normAutofit fontScale="90000"/>
          </a:bodyPr>
          <a:lstStyle/>
          <a:p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EDA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88614"/>
            <a:ext cx="5624052" cy="1431568"/>
          </a:xfrm>
        </p:spPr>
        <p:txBody>
          <a:bodyPr/>
          <a:lstStyle/>
          <a:p>
            <a:r>
              <a:rPr dirty="0"/>
              <a:t>• Certain customer segments show higher churn</a:t>
            </a:r>
          </a:p>
          <a:p>
            <a:r>
              <a:rPr dirty="0"/>
              <a:t>• Usage and tenure correlate with churn</a:t>
            </a:r>
          </a:p>
          <a:p>
            <a:r>
              <a:rPr dirty="0"/>
              <a:t>• Pricing sensitivity observed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F30296-E7F7-68B9-52D6-800546CCC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18" y="2586379"/>
            <a:ext cx="3422038" cy="1869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AAC421-E175-F6B9-8BD3-62F483982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311" y="2586379"/>
            <a:ext cx="3868853" cy="20900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E6686A-DFCC-4B9C-647D-9C659513F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8724" y="4659267"/>
            <a:ext cx="3422038" cy="20204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528620" cy="1042219"/>
          </a:xfrm>
        </p:spPr>
        <p:txBody>
          <a:bodyPr>
            <a:noAutofit/>
          </a:bodyPr>
          <a:lstStyle/>
          <a:p>
            <a:r>
              <a:rPr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Phase 4: Advanced Analysis (Days 10–12)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362" y="2454743"/>
            <a:ext cx="7087096" cy="3165987"/>
          </a:xfrm>
        </p:spPr>
        <p:txBody>
          <a:bodyPr/>
          <a:lstStyle/>
          <a:p>
            <a:r>
              <a:rPr dirty="0"/>
              <a:t>• Hypothesis testing</a:t>
            </a:r>
          </a:p>
          <a:p>
            <a:r>
              <a:rPr dirty="0"/>
              <a:t>• Statistical validation</a:t>
            </a: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• Feature impact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E3453F-1B7F-7554-9212-EA1A7986B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435" y="1884351"/>
            <a:ext cx="3563698" cy="18002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9550F6-B49A-D4CB-BC84-DA94ECE28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74" y="3267500"/>
            <a:ext cx="3037337" cy="15404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066504" cy="619432"/>
          </a:xfrm>
        </p:spPr>
        <p:txBody>
          <a:bodyPr>
            <a:noAutofit/>
          </a:bodyPr>
          <a:lstStyle/>
          <a:p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Schoolbook" panose="02040604050505020304" pitchFamily="18" charset="0"/>
              </a:rPr>
              <a:t>Analytical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67300"/>
            <a:ext cx="6213988" cy="1339694"/>
          </a:xfrm>
        </p:spPr>
        <p:txBody>
          <a:bodyPr/>
          <a:lstStyle/>
          <a:p>
            <a:r>
              <a:rPr dirty="0"/>
              <a:t>• Statistically significant churn predictors identified</a:t>
            </a:r>
          </a:p>
          <a:p>
            <a:r>
              <a:rPr dirty="0"/>
              <a:t>• Customer behavior patterns validated</a:t>
            </a:r>
          </a:p>
          <a:p>
            <a:r>
              <a:rPr dirty="0"/>
              <a:t>• High-risk segments defined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2376E0-7B36-07FB-D6B1-EF378AAEC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094475"/>
              </p:ext>
            </p:extLst>
          </p:nvPr>
        </p:nvGraphicFramePr>
        <p:xfrm>
          <a:off x="609600" y="3737515"/>
          <a:ext cx="6536838" cy="1794928"/>
        </p:xfrm>
        <a:graphic>
          <a:graphicData uri="http://schemas.openxmlformats.org/drawingml/2006/table">
            <a:tbl>
              <a:tblPr/>
              <a:tblGrid>
                <a:gridCol w="3268419">
                  <a:extLst>
                    <a:ext uri="{9D8B030D-6E8A-4147-A177-3AD203B41FA5}">
                      <a16:colId xmlns:a16="http://schemas.microsoft.com/office/drawing/2014/main" val="1810782739"/>
                    </a:ext>
                  </a:extLst>
                </a:gridCol>
                <a:gridCol w="3268419">
                  <a:extLst>
                    <a:ext uri="{9D8B030D-6E8A-4147-A177-3AD203B41FA5}">
                      <a16:colId xmlns:a16="http://schemas.microsoft.com/office/drawing/2014/main" val="2268104113"/>
                    </a:ext>
                  </a:extLst>
                </a:gridCol>
              </a:tblGrid>
              <a:tr h="448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ritannic Bold" panose="020B0903060703020204" pitchFamily="34" charset="0"/>
                        </a:rPr>
                        <a:t>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ritannic Bold" panose="020B0903060703020204" pitchFamily="34" charset="0"/>
                        </a:rPr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93266"/>
                  </a:ext>
                </a:extLst>
              </a:tr>
              <a:tr h="448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Month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Identify high-risk 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25926"/>
                  </a:ext>
                </a:extLst>
              </a:tr>
              <a:tr h="448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Month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Offer retention discounts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352457"/>
                  </a:ext>
                </a:extLst>
              </a:tr>
              <a:tr h="448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Month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Track churn reduction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3197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7433ABE-6569-5AB7-6146-B501CDEF45D7}"/>
              </a:ext>
            </a:extLst>
          </p:cNvPr>
          <p:cNvSpPr txBox="1"/>
          <p:nvPr/>
        </p:nvSpPr>
        <p:spPr>
          <a:xfrm>
            <a:off x="542388" y="3191422"/>
            <a:ext cx="4255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📈 </a:t>
            </a:r>
            <a:r>
              <a:rPr lang="en-IN" sz="2400" b="1" dirty="0">
                <a:latin typeface="Century Schoolbook" panose="02040604050505020304" pitchFamily="18" charset="0"/>
              </a:rPr>
              <a:t>Implementation Plan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270" y="1022555"/>
            <a:ext cx="6735098" cy="1150374"/>
          </a:xfrm>
        </p:spPr>
        <p:txBody>
          <a:bodyPr>
            <a:noAutofit/>
          </a:bodyPr>
          <a:lstStyle/>
          <a:p>
            <a:r>
              <a:rPr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Phase 5: Insights &amp; Recommendations (Days 13–14)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915" y="2918927"/>
            <a:ext cx="6322143" cy="2149603"/>
          </a:xfrm>
        </p:spPr>
        <p:txBody>
          <a:bodyPr>
            <a:noAutofit/>
          </a:bodyPr>
          <a:lstStyle/>
          <a:p>
            <a:r>
              <a:rPr sz="2800" dirty="0">
                <a:latin typeface="Century Schoolbook" panose="02040604050505020304" pitchFamily="18" charset="0"/>
              </a:rPr>
              <a:t>• Business interpretation of results</a:t>
            </a:r>
          </a:p>
          <a:p>
            <a:r>
              <a:rPr sz="2800" dirty="0">
                <a:latin typeface="Century Schoolbook" panose="02040604050505020304" pitchFamily="18" charset="0"/>
              </a:rPr>
              <a:t>• Actionable recommendations</a:t>
            </a:r>
          </a:p>
          <a:p>
            <a:r>
              <a:rPr sz="2800" dirty="0">
                <a:latin typeface="Century Schoolbook" panose="02040604050505020304" pitchFamily="18" charset="0"/>
              </a:rPr>
              <a:t>• Presentation preparation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5007" y="776304"/>
            <a:ext cx="5152104" cy="796413"/>
          </a:xfrm>
        </p:spPr>
        <p:txBody>
          <a:bodyPr/>
          <a:lstStyle/>
          <a:p>
            <a:r>
              <a:rPr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</a:rPr>
              <a:t>Key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082" y="1730036"/>
            <a:ext cx="6941576" cy="1497009"/>
          </a:xfrm>
        </p:spPr>
        <p:txBody>
          <a:bodyPr>
            <a:noAutofit/>
          </a:bodyPr>
          <a:lstStyle/>
          <a:p>
            <a:r>
              <a:rPr sz="2400" dirty="0">
                <a:latin typeface="Century Schoolbook" panose="02040604050505020304" pitchFamily="18" charset="0"/>
              </a:rPr>
              <a:t>• Target high-risk segments with offers</a:t>
            </a:r>
          </a:p>
          <a:p>
            <a:r>
              <a:rPr sz="2400" dirty="0">
                <a:latin typeface="Century Schoolbook" panose="02040604050505020304" pitchFamily="18" charset="0"/>
              </a:rPr>
              <a:t>• Improve onboarding experience</a:t>
            </a:r>
          </a:p>
          <a:p>
            <a:r>
              <a:rPr sz="2400" dirty="0">
                <a:latin typeface="Century Schoolbook" panose="02040604050505020304" pitchFamily="18" charset="0"/>
              </a:rPr>
              <a:t>• Monitor churn KPIs regularly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6AFAFE-0218-9965-2019-B4883452F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747884"/>
              </p:ext>
            </p:extLst>
          </p:nvPr>
        </p:nvGraphicFramePr>
        <p:xfrm>
          <a:off x="1065990" y="3560902"/>
          <a:ext cx="6632668" cy="2198392"/>
        </p:xfrm>
        <a:graphic>
          <a:graphicData uri="http://schemas.openxmlformats.org/drawingml/2006/table">
            <a:tbl>
              <a:tblPr/>
              <a:tblGrid>
                <a:gridCol w="3137056">
                  <a:extLst>
                    <a:ext uri="{9D8B030D-6E8A-4147-A177-3AD203B41FA5}">
                      <a16:colId xmlns:a16="http://schemas.microsoft.com/office/drawing/2014/main" val="864409212"/>
                    </a:ext>
                  </a:extLst>
                </a:gridCol>
                <a:gridCol w="3495612">
                  <a:extLst>
                    <a:ext uri="{9D8B030D-6E8A-4147-A177-3AD203B41FA5}">
                      <a16:colId xmlns:a16="http://schemas.microsoft.com/office/drawing/2014/main" val="3955187693"/>
                    </a:ext>
                  </a:extLst>
                </a:gridCol>
              </a:tblGrid>
              <a:tr h="399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ritannic Bold" panose="020B0903060703020204" pitchFamily="34" charset="0"/>
                        </a:rPr>
                        <a:t>Insight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ritannic Bold" panose="020B0903060703020204" pitchFamily="34" charset="0"/>
                        </a:rPr>
                        <a:t>Business 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472729"/>
                  </a:ext>
                </a:extLst>
              </a:tr>
              <a:tr h="699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Short tenure customers churn more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Poor onboarding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527764"/>
                  </a:ext>
                </a:extLst>
              </a:tr>
              <a:tr h="699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Month-to-month contracts risky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long-term commitment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859968"/>
                  </a:ext>
                </a:extLst>
              </a:tr>
              <a:tr h="399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 charges → high churn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Price sensitivity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4044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915" y="678426"/>
            <a:ext cx="6347713" cy="825910"/>
          </a:xfrm>
        </p:spPr>
        <p:txBody>
          <a:bodyPr/>
          <a:lstStyle/>
          <a:p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Schoolbook" panose="02040604050505020304" pitchFamily="18" charset="0"/>
              </a:rPr>
              <a:t>Expected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742" y="1698474"/>
            <a:ext cx="6347714" cy="1570752"/>
          </a:xfrm>
        </p:spPr>
        <p:txBody>
          <a:bodyPr>
            <a:normAutofit/>
          </a:bodyPr>
          <a:lstStyle/>
          <a:p>
            <a:r>
              <a:rPr sz="2400" dirty="0"/>
              <a:t>• </a:t>
            </a: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churn rate</a:t>
            </a:r>
          </a:p>
          <a:p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Improved customer lifetime value</a:t>
            </a:r>
          </a:p>
          <a:p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Better data-driven decisions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40DA2F-C88F-9147-4CB0-F8949D877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558305"/>
              </p:ext>
            </p:extLst>
          </p:nvPr>
        </p:nvGraphicFramePr>
        <p:xfrm>
          <a:off x="722670" y="3588774"/>
          <a:ext cx="6731170" cy="1906300"/>
        </p:xfrm>
        <a:graphic>
          <a:graphicData uri="http://schemas.openxmlformats.org/drawingml/2006/table">
            <a:tbl>
              <a:tblPr/>
              <a:tblGrid>
                <a:gridCol w="3365585">
                  <a:extLst>
                    <a:ext uri="{9D8B030D-6E8A-4147-A177-3AD203B41FA5}">
                      <a16:colId xmlns:a16="http://schemas.microsoft.com/office/drawing/2014/main" val="3624623326"/>
                    </a:ext>
                  </a:extLst>
                </a:gridCol>
                <a:gridCol w="3365585">
                  <a:extLst>
                    <a:ext uri="{9D8B030D-6E8A-4147-A177-3AD203B41FA5}">
                      <a16:colId xmlns:a16="http://schemas.microsoft.com/office/drawing/2014/main" val="1115660039"/>
                    </a:ext>
                  </a:extLst>
                </a:gridCol>
              </a:tblGrid>
              <a:tr h="38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ritannic Bold" panose="020B0903060703020204" pitchFamily="34" charset="0"/>
                        </a:rPr>
                        <a:t>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ritannic Bold" panose="020B0903060703020204" pitchFamily="34" charset="0"/>
                        </a:rPr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437427"/>
                  </a:ext>
                </a:extLst>
              </a:tr>
              <a:tr h="38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New customers leaving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90-day onboarding program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767560"/>
                  </a:ext>
                </a:extLst>
              </a:tr>
              <a:tr h="38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Price-sensitive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Discount bundles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619312"/>
                  </a:ext>
                </a:extLst>
              </a:tr>
              <a:tr h="38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Month-to-month churn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Incentivize annual contracts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773846"/>
                  </a:ext>
                </a:extLst>
              </a:tr>
              <a:tr h="38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High-risk segment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Proactive retention calls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9894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946" y="934065"/>
            <a:ext cx="6347713" cy="1002890"/>
          </a:xfrm>
        </p:spPr>
        <p:txBody>
          <a:bodyPr>
            <a:normAutofit/>
          </a:bodyPr>
          <a:lstStyle/>
          <a:p>
            <a:pPr algn="ctr"/>
            <a:r>
              <a:rPr sz="5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164" y="2544048"/>
            <a:ext cx="6607278" cy="2195100"/>
          </a:xfrm>
        </p:spPr>
        <p:txBody>
          <a:bodyPr>
            <a:noAutofit/>
          </a:bodyPr>
          <a:lstStyle/>
          <a:p>
            <a:r>
              <a:rPr sz="2400" dirty="0">
                <a:latin typeface="Century Schoolbook" panose="02040604050505020304" pitchFamily="18" charset="0"/>
              </a:rPr>
              <a:t>Structured analytics approach delivered insights</a:t>
            </a:r>
          </a:p>
          <a:p>
            <a:r>
              <a:rPr sz="2400" dirty="0">
                <a:latin typeface="Century Schoolbook" panose="02040604050505020304" pitchFamily="18" charset="0"/>
              </a:rPr>
              <a:t>Clear roadmap for customer retention</a:t>
            </a:r>
          </a:p>
          <a:p>
            <a:r>
              <a:rPr sz="2400" dirty="0">
                <a:latin typeface="Century Schoolbook" panose="02040604050505020304" pitchFamily="18" charset="0"/>
              </a:rPr>
              <a:t>Next step: Predictive modeling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80</TotalTime>
  <Words>377</Words>
  <Application>Microsoft Office PowerPoint</Application>
  <PresentationFormat>On-screen Show (4:3)</PresentationFormat>
  <Paragraphs>100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Algerian</vt:lpstr>
      <vt:lpstr>Arial</vt:lpstr>
      <vt:lpstr>Britannic Bold</vt:lpstr>
      <vt:lpstr>Calibri</vt:lpstr>
      <vt:lpstr>Century Schoolbook</vt:lpstr>
      <vt:lpstr>Trebuchet MS</vt:lpstr>
      <vt:lpstr>Wingdings 3</vt:lpstr>
      <vt:lpstr>Facet</vt:lpstr>
      <vt:lpstr>PowerPoint Presentation</vt:lpstr>
      <vt:lpstr>Project Overview</vt:lpstr>
      <vt:lpstr>PowerPoint Presentation</vt:lpstr>
      <vt:lpstr>Objectives &amp; Success Metrics</vt:lpstr>
      <vt:lpstr>Phase 2: Data Collection &amp; Preparation (Days 4–6)</vt:lpstr>
      <vt:lpstr>Dataset Summary</vt:lpstr>
      <vt:lpstr>Phase 3: Exploratory Data Analysis (Days 7–9)</vt:lpstr>
      <vt:lpstr>Key EDA Findings</vt:lpstr>
      <vt:lpstr>Phase 4: Advanced Analysis (Days 10–12)</vt:lpstr>
      <vt:lpstr>Analytical Insights</vt:lpstr>
      <vt:lpstr>Phase 5: Insights &amp; Recommendations (Days 13–14)</vt:lpstr>
      <vt:lpstr>Key Recommendations</vt:lpstr>
      <vt:lpstr>Expected Business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arnita9860@outlook.com</cp:lastModifiedBy>
  <cp:revision>16</cp:revision>
  <dcterms:created xsi:type="dcterms:W3CDTF">2013-01-27T09:14:16Z</dcterms:created>
  <dcterms:modified xsi:type="dcterms:W3CDTF">2026-01-31T07:33:58Z</dcterms:modified>
  <cp:category/>
</cp:coreProperties>
</file>